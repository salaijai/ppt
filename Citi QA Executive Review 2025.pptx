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7.png"/><Relationship Id="rId13" Type="http://schemas.openxmlformats.org/officeDocument/2006/relationships/image" Target="../media/image23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5" Type="http://schemas.openxmlformats.org/officeDocument/2006/relationships/image" Target="../media/image35.png"/><Relationship Id="rId14" Type="http://schemas.openxmlformats.org/officeDocument/2006/relationships/image" Target="../media/image25.png"/><Relationship Id="rId16" Type="http://schemas.openxmlformats.org/officeDocument/2006/relationships/image" Target="../media/image42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1.png"/><Relationship Id="rId11" Type="http://schemas.openxmlformats.org/officeDocument/2006/relationships/image" Target="../media/image21.png"/><Relationship Id="rId10" Type="http://schemas.openxmlformats.org/officeDocument/2006/relationships/image" Target="../media/image24.png"/><Relationship Id="rId21" Type="http://schemas.openxmlformats.org/officeDocument/2006/relationships/image" Target="../media/image40.png"/><Relationship Id="rId13" Type="http://schemas.openxmlformats.org/officeDocument/2006/relationships/image" Target="../media/image22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Relationship Id="rId15" Type="http://schemas.openxmlformats.org/officeDocument/2006/relationships/image" Target="../media/image37.png"/><Relationship Id="rId14" Type="http://schemas.openxmlformats.org/officeDocument/2006/relationships/image" Target="../media/image7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5" Type="http://schemas.openxmlformats.org/officeDocument/2006/relationships/image" Target="../media/image20.png"/><Relationship Id="rId19" Type="http://schemas.openxmlformats.org/officeDocument/2006/relationships/image" Target="../media/image36.png"/><Relationship Id="rId6" Type="http://schemas.openxmlformats.org/officeDocument/2006/relationships/image" Target="../media/image33.png"/><Relationship Id="rId18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11" Type="http://schemas.openxmlformats.org/officeDocument/2006/relationships/image" Target="../media/image21.png"/><Relationship Id="rId10" Type="http://schemas.openxmlformats.org/officeDocument/2006/relationships/image" Target="../media/image43.png"/><Relationship Id="rId21" Type="http://schemas.openxmlformats.org/officeDocument/2006/relationships/image" Target="../media/image53.png"/><Relationship Id="rId13" Type="http://schemas.openxmlformats.org/officeDocument/2006/relationships/image" Target="../media/image22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Relationship Id="rId15" Type="http://schemas.openxmlformats.org/officeDocument/2006/relationships/image" Target="../media/image37.png"/><Relationship Id="rId14" Type="http://schemas.openxmlformats.org/officeDocument/2006/relationships/image" Target="../media/image7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5" Type="http://schemas.openxmlformats.org/officeDocument/2006/relationships/image" Target="../media/image20.png"/><Relationship Id="rId19" Type="http://schemas.openxmlformats.org/officeDocument/2006/relationships/image" Target="../media/image36.png"/><Relationship Id="rId6" Type="http://schemas.openxmlformats.org/officeDocument/2006/relationships/image" Target="../media/image33.png"/><Relationship Id="rId18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11" Type="http://schemas.openxmlformats.org/officeDocument/2006/relationships/image" Target="../media/image21.png"/><Relationship Id="rId10" Type="http://schemas.openxmlformats.org/officeDocument/2006/relationships/image" Target="../media/image54.png"/><Relationship Id="rId21" Type="http://schemas.openxmlformats.org/officeDocument/2006/relationships/image" Target="../media/image70.png"/><Relationship Id="rId13" Type="http://schemas.openxmlformats.org/officeDocument/2006/relationships/image" Target="../media/image22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Relationship Id="rId15" Type="http://schemas.openxmlformats.org/officeDocument/2006/relationships/image" Target="../media/image37.png"/><Relationship Id="rId14" Type="http://schemas.openxmlformats.org/officeDocument/2006/relationships/image" Target="../media/image7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5" Type="http://schemas.openxmlformats.org/officeDocument/2006/relationships/image" Target="../media/image20.png"/><Relationship Id="rId19" Type="http://schemas.openxmlformats.org/officeDocument/2006/relationships/image" Target="../media/image36.png"/><Relationship Id="rId6" Type="http://schemas.openxmlformats.org/officeDocument/2006/relationships/image" Target="../media/image33.png"/><Relationship Id="rId18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56.png"/><Relationship Id="rId11" Type="http://schemas.openxmlformats.org/officeDocument/2006/relationships/image" Target="../media/image21.png"/><Relationship Id="rId10" Type="http://schemas.openxmlformats.org/officeDocument/2006/relationships/image" Target="../media/image58.png"/><Relationship Id="rId21" Type="http://schemas.openxmlformats.org/officeDocument/2006/relationships/image" Target="../media/image57.png"/><Relationship Id="rId13" Type="http://schemas.openxmlformats.org/officeDocument/2006/relationships/image" Target="../media/image22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Relationship Id="rId15" Type="http://schemas.openxmlformats.org/officeDocument/2006/relationships/image" Target="../media/image37.png"/><Relationship Id="rId14" Type="http://schemas.openxmlformats.org/officeDocument/2006/relationships/image" Target="../media/image7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5" Type="http://schemas.openxmlformats.org/officeDocument/2006/relationships/image" Target="../media/image20.png"/><Relationship Id="rId19" Type="http://schemas.openxmlformats.org/officeDocument/2006/relationships/image" Target="../media/image36.png"/><Relationship Id="rId6" Type="http://schemas.openxmlformats.org/officeDocument/2006/relationships/image" Target="../media/image33.png"/><Relationship Id="rId18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62.png"/><Relationship Id="rId11" Type="http://schemas.openxmlformats.org/officeDocument/2006/relationships/image" Target="../media/image21.png"/><Relationship Id="rId10" Type="http://schemas.openxmlformats.org/officeDocument/2006/relationships/image" Target="../media/image64.png"/><Relationship Id="rId21" Type="http://schemas.openxmlformats.org/officeDocument/2006/relationships/image" Target="../media/image65.png"/><Relationship Id="rId13" Type="http://schemas.openxmlformats.org/officeDocument/2006/relationships/image" Target="../media/image22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Relationship Id="rId15" Type="http://schemas.openxmlformats.org/officeDocument/2006/relationships/image" Target="../media/image37.png"/><Relationship Id="rId14" Type="http://schemas.openxmlformats.org/officeDocument/2006/relationships/image" Target="../media/image7.png"/><Relationship Id="rId17" Type="http://schemas.openxmlformats.org/officeDocument/2006/relationships/image" Target="../media/image26.png"/><Relationship Id="rId16" Type="http://schemas.openxmlformats.org/officeDocument/2006/relationships/image" Target="../media/image28.png"/><Relationship Id="rId5" Type="http://schemas.openxmlformats.org/officeDocument/2006/relationships/image" Target="../media/image20.png"/><Relationship Id="rId19" Type="http://schemas.openxmlformats.org/officeDocument/2006/relationships/image" Target="../media/image36.png"/><Relationship Id="rId6" Type="http://schemas.openxmlformats.org/officeDocument/2006/relationships/image" Target="../media/image33.png"/><Relationship Id="rId18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61.png"/><Relationship Id="rId9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71.png"/><Relationship Id="rId7" Type="http://schemas.openxmlformats.org/officeDocument/2006/relationships/image" Target="../media/image66.png"/><Relationship Id="rId8" Type="http://schemas.openxmlformats.org/officeDocument/2006/relationships/image" Target="../media/image6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15602" y="1952625"/>
            <a:ext cx="636079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2025 QA Portfolio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Executive Review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414587" y="3619500"/>
            <a:ext cx="7362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rPr>
              <a:t>VERIFIX • GOAML • CITICONNECT • TRADELENS • GLOBAL KYC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286250"/>
            <a:ext cx="952500" cy="57150"/>
          </a:xfrm>
          <a:prstGeom prst="roundRect">
            <a:avLst>
              <a:gd fmla="val 16667" name="adj"/>
            </a:avLst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10075" y="4533900"/>
            <a:ext cx="3371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Roboto"/>
                <a:ea typeface="Roboto"/>
                <a:cs typeface="Roboto"/>
                <a:sym typeface="Roboto"/>
              </a:rPr>
              <a:t>Strategic Performance &amp; Compliance Impact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99445"/>
            <a:ext cx="11049000" cy="193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79265"/>
            <a:ext cx="2547937" cy="1539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5187" y="1979265"/>
            <a:ext cx="2547937" cy="1539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79265"/>
            <a:ext cx="2547937" cy="1539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1979265"/>
            <a:ext cx="2547937" cy="15391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19150" y="2226915"/>
            <a:ext cx="205263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2908845"/>
            <a:ext cx="20526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MAJOR PROJECTS DELIVERED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52837" y="2226915"/>
            <a:ext cx="205263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2,102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652837" y="2908845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TOTAL TEST SCENARIOS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86525" y="2226915"/>
            <a:ext cx="205263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177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86525" y="2908845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DEFECTS PRE-EMPTED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320212" y="2226915"/>
            <a:ext cx="205263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E67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320212" y="2908845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PRODUCTION ISSUES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4373016"/>
            <a:ext cx="904113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Executive Impact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4773066"/>
            <a:ext cx="861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Successfully navigated 2025's regulatory shifts with zero defect leakage. Unified 5 disparate testing streams into a cohesive, AI-augmented quality assurance framework.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85020" y="4502943"/>
            <a:ext cx="164020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763125" y="5045868"/>
            <a:ext cx="1562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rPr>
              <a:t>Regulatory Compliance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95275" y="728811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2025 Strategic Outcomes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95846"/>
            <a:ext cx="11049000" cy="518115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815161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Roboto"/>
                <a:ea typeface="Roboto"/>
                <a:cs typeface="Roboto"/>
                <a:sym typeface="Roboto"/>
              </a:rPr>
              <a:t>* Data reflects total validated scenarios across Functional and Regression cycles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95275" y="713035"/>
            <a:ext cx="11601450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Execution Volume by Initiative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1601241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382291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163341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134891"/>
            <a:ext cx="474345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809976"/>
            <a:ext cx="4743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5552926"/>
            <a:ext cx="4743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66775" y="1024086"/>
            <a:ext cx="4980622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&amp; Automation Strategy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3087439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EFF1"/>
                </a:solidFill>
                <a:latin typeface="Roboto"/>
                <a:ea typeface="Roboto"/>
                <a:cs typeface="Roboto"/>
                <a:sym typeface="Roboto"/>
              </a:rPr>
              <a:t>Leveraging GenAI to shift left and accelerate delivery cycles.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866775" y="3087439"/>
            <a:ext cx="47625" cy="5334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172325" y="1844129"/>
            <a:ext cx="1038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TIME SAVINGS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582275" y="1777454"/>
            <a:ext cx="50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40%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210425" y="2625179"/>
            <a:ext cx="1076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AI TEST CASES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629900" y="2558504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134225" y="3406229"/>
            <a:ext cx="809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AI SCRIPTS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782300" y="3339554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724650" y="4277766"/>
            <a:ext cx="468058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CHALLENGES &amp; LEARNINGS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24650" y="4477791"/>
            <a:ext cx="44577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Fine-tuning prompts for complex logic and overcoming Excel parsing limits remain key focus areas for 2026.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493380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590675" y="5024288"/>
            <a:ext cx="2228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Friday.AI Prompt Engineering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6800" y="567675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590675" y="5767238"/>
            <a:ext cx="1752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Copilot Test Script Gen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77050" y="185841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77050" y="263946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77050" y="3420516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62050" y="5038576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81100" y="5781526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15335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3145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956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8766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6577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676275"/>
            <a:ext cx="4743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1951732"/>
            <a:ext cx="47434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810125"/>
            <a:ext cx="4743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5553075"/>
            <a:ext cx="4743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66775" y="1347936"/>
            <a:ext cx="49806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VerifiX Application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57275" y="3083123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EFF1"/>
                </a:solidFill>
                <a:latin typeface="Roboto"/>
                <a:ea typeface="Roboto"/>
                <a:cs typeface="Roboto"/>
                <a:sym typeface="Roboto"/>
              </a:rPr>
              <a:t>Remediation of non-compliant reporting matters to ensure zero risk exposure.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866775" y="3083123"/>
            <a:ext cx="47625" cy="5334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7191375" y="1776412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629900" y="17097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400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172325" y="2557462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629900" y="24907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170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210425" y="3338512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0629900" y="32718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210425" y="411956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782300" y="405288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172325" y="4900612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782300" y="48339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09650" y="2104132"/>
            <a:ext cx="468058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009650" y="2304157"/>
            <a:ext cx="44577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Eliminated manual reporting errors, ensuring 100% adherence to FinSurv mandates.</a:t>
            </a:r>
            <a:endParaRPr/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4933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590675" y="5024437"/>
            <a:ext cx="17811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Automated Payment ID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567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1590675" y="5767387"/>
            <a:ext cx="1276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Zero Prod Issues</a:t>
            </a:r>
            <a:endParaRPr/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7705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77050" y="2571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77050" y="33528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77050" y="41338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77050" y="4914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47762" y="50387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81100" y="5781675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15335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3145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956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8766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6577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676275"/>
            <a:ext cx="4743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1951732"/>
            <a:ext cx="47434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810125"/>
            <a:ext cx="4743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5553075"/>
            <a:ext cx="4743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866775" y="1347936"/>
            <a:ext cx="49806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GOAML Integration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057275" y="3083123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EFF1"/>
                </a:solidFill>
                <a:latin typeface="Roboto"/>
                <a:ea typeface="Roboto"/>
                <a:cs typeface="Roboto"/>
                <a:sym typeface="Roboto"/>
              </a:rPr>
              <a:t>Boosting Straight-Through Processing (STP) rates for critical transaction reports.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866775" y="3083123"/>
            <a:ext cx="47625" cy="5334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7191375" y="1776412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0629900" y="17097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332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172325" y="2557462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0629900" y="24907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140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210425" y="3338512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0782300" y="32718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80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210425" y="411956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0782300" y="405288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172325" y="4900612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0782300" y="48339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35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009650" y="2104132"/>
            <a:ext cx="468058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1009650" y="2304157"/>
            <a:ext cx="44577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Optimized transaction reporting speed, reducing regulatory submission lag.</a:t>
            </a:r>
            <a:endParaRPr/>
          </a:p>
        </p:txBody>
      </p:sp>
      <p:pic>
        <p:nvPicPr>
          <p:cNvPr descr="image.png" id="226" name="Google Shape;226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4933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1590675" y="5024437"/>
            <a:ext cx="1885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Increased STP Efficiency</a:t>
            </a:r>
            <a:endParaRPr/>
          </a:p>
        </p:txBody>
      </p:sp>
      <p:pic>
        <p:nvPicPr>
          <p:cNvPr descr="image.png" id="228" name="Google Shape;228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567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1590675" y="5767387"/>
            <a:ext cx="1971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Complex Logic Validation</a:t>
            </a:r>
            <a:endParaRPr/>
          </a:p>
        </p:txBody>
      </p:sp>
      <p:pic>
        <p:nvPicPr>
          <p:cNvPr descr="image.png" id="230" name="Google Shape;230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7705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77050" y="2571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77050" y="33528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77050" y="41338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77050" y="4914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2050" y="503872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1575" y="578167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15335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3145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956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8766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6577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676275"/>
            <a:ext cx="4743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1951732"/>
            <a:ext cx="47434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810125"/>
            <a:ext cx="4743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5553075"/>
            <a:ext cx="4743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866775" y="1347936"/>
            <a:ext cx="49806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CitiConnect API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057275" y="3083123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EFF1"/>
                </a:solidFill>
                <a:latin typeface="Roboto"/>
                <a:ea typeface="Roboto"/>
                <a:cs typeface="Roboto"/>
                <a:sym typeface="Roboto"/>
              </a:rPr>
              <a:t>Overhauling legacy API gateways to reduce latency and ensure real-time payload checks.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866775" y="3083123"/>
            <a:ext cx="47625" cy="5334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7191375" y="1776412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10629900" y="17097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450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7172325" y="2557462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10629900" y="24907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200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210425" y="3338512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10629900" y="32718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180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210425" y="411956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10629900" y="40528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144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172325" y="4900612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10782300" y="48339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1009650" y="2104132"/>
            <a:ext cx="468058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1009650" y="2304157"/>
            <a:ext cx="44577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Enhanced institutional client experience with sub-second API validation.</a:t>
            </a:r>
            <a:endParaRPr/>
          </a:p>
        </p:txBody>
      </p:sp>
      <p:pic>
        <p:nvPicPr>
          <p:cNvPr descr="image.png" id="268" name="Google Shape;268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4933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1590675" y="5024437"/>
            <a:ext cx="1771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40% Latency Reduction</a:t>
            </a:r>
            <a:endParaRPr/>
          </a:p>
        </p:txBody>
      </p:sp>
      <p:pic>
        <p:nvPicPr>
          <p:cNvPr descr="image.png" id="270" name="Google Shape;270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567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1590675" y="5767387"/>
            <a:ext cx="1362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Copilot Unit Tests</a:t>
            </a:r>
            <a:endParaRPr/>
          </a:p>
        </p:txBody>
      </p:sp>
      <p:pic>
        <p:nvPicPr>
          <p:cNvPr descr="image.png" id="272" name="Google Shape;272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7705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77050" y="2571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77050" y="33528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77050" y="41338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77050" y="4914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81100" y="50387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47762" y="5781675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15335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3145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956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8766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6577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676275"/>
            <a:ext cx="4743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1951732"/>
            <a:ext cx="47434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810125"/>
            <a:ext cx="4743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5553075"/>
            <a:ext cx="4743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/>
          <p:nvPr/>
        </p:nvSpPr>
        <p:spPr>
          <a:xfrm>
            <a:off x="866775" y="1347936"/>
            <a:ext cx="49806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TradeLens Ledger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1057275" y="3083123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EFF1"/>
                </a:solidFill>
                <a:latin typeface="Roboto"/>
                <a:ea typeface="Roboto"/>
                <a:cs typeface="Roboto"/>
                <a:sym typeface="Roboto"/>
              </a:rPr>
              <a:t>Validating distributed ledger technology for smart contract integrity.</a:t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866775" y="3083123"/>
            <a:ext cx="47625" cy="5334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191375" y="1776412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10629900" y="17097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320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7172325" y="2557462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10629900" y="24907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7210425" y="3338512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10782300" y="32718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7210425" y="411956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10782300" y="405288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7172325" y="4900612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10782300" y="48339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1009650" y="2104132"/>
            <a:ext cx="468058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1009650" y="2304157"/>
            <a:ext cx="44577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Secured immutable audit trails for high-value trade settlements.</a:t>
            </a:r>
            <a:endParaRPr/>
          </a:p>
        </p:txBody>
      </p:sp>
      <p:pic>
        <p:nvPicPr>
          <p:cNvPr descr="image.png" id="310" name="Google Shape;310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4933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 txBox="1"/>
          <p:nvPr/>
        </p:nvSpPr>
        <p:spPr>
          <a:xfrm>
            <a:off x="1590675" y="5024437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Smart Contract Logic</a:t>
            </a:r>
            <a:endParaRPr/>
          </a:p>
        </p:txBody>
      </p:sp>
      <p:pic>
        <p:nvPicPr>
          <p:cNvPr descr="image.png" id="312" name="Google Shape;312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567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 txBox="1"/>
          <p:nvPr/>
        </p:nvSpPr>
        <p:spPr>
          <a:xfrm>
            <a:off x="1590675" y="5767387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Settlement</a:t>
            </a:r>
            <a:endParaRPr/>
          </a:p>
        </p:txBody>
      </p:sp>
      <p:pic>
        <p:nvPicPr>
          <p:cNvPr descr="image.png" id="314" name="Google Shape;314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7705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77050" y="2571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77050" y="33528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77050" y="41338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77050" y="4914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47762" y="50387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1575" y="578167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"/>
            <a:ext cx="533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15335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3145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956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87667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657725"/>
            <a:ext cx="47434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676275"/>
            <a:ext cx="4743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1951732"/>
            <a:ext cx="47434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775" y="4810125"/>
            <a:ext cx="4743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5553075"/>
            <a:ext cx="4743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>
            <a:off x="866775" y="1347936"/>
            <a:ext cx="49806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Global KYC Unification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1057275" y="3083123"/>
            <a:ext cx="4552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EFF1"/>
                </a:solidFill>
                <a:latin typeface="Roboto"/>
                <a:ea typeface="Roboto"/>
                <a:cs typeface="Roboto"/>
                <a:sym typeface="Roboto"/>
              </a:rPr>
              <a:t>Merging APAC and EMEA customer datasets with AI-driven duplicate detection.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866775" y="3083123"/>
            <a:ext cx="47625" cy="5334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7191375" y="1776412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FUNCTIONAL CASES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10629900" y="17097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600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7172325" y="2557462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REGRESSION CASES</a:t>
            </a:r>
            <a:endParaRPr/>
          </a:p>
        </p:txBody>
      </p:sp>
      <p:sp>
        <p:nvSpPr>
          <p:cNvPr id="343" name="Google Shape;343;p21"/>
          <p:cNvSpPr txBox="1"/>
          <p:nvPr/>
        </p:nvSpPr>
        <p:spPr>
          <a:xfrm>
            <a:off x="10629900" y="24907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300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7210425" y="3338512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AUTOMATABLE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10629900" y="327183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250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7210425" y="411956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10629900" y="4052887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188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7172325" y="4900612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rPr>
              <a:t>DEFECTS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10782300" y="4833937"/>
            <a:ext cx="304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55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1009650" y="2104132"/>
            <a:ext cx="468058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A9E0"/>
                </a:solidFill>
                <a:latin typeface="Roboto"/>
                <a:ea typeface="Roboto"/>
                <a:cs typeface="Roboto"/>
                <a:sym typeface="Roboto"/>
              </a:rPr>
              <a:t>BUSINESS IMPACT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1009650" y="2304157"/>
            <a:ext cx="44577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Unified global identity standards, reducing client onboarding time by 30%.</a:t>
            </a:r>
            <a:endParaRPr/>
          </a:p>
        </p:txBody>
      </p:sp>
      <p:pic>
        <p:nvPicPr>
          <p:cNvPr descr="image.png" id="352" name="Google Shape;352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4933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1590675" y="5024437"/>
            <a:ext cx="1133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 Merge</a:t>
            </a:r>
            <a:endParaRPr/>
          </a:p>
        </p:txBody>
      </p:sp>
      <p:pic>
        <p:nvPicPr>
          <p:cNvPr descr="image.png" id="354" name="Google Shape;354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567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1"/>
          <p:cNvSpPr txBox="1"/>
          <p:nvPr/>
        </p:nvSpPr>
        <p:spPr>
          <a:xfrm>
            <a:off x="1590675" y="5767387"/>
            <a:ext cx="1266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Deduplication</a:t>
            </a:r>
            <a:endParaRPr/>
          </a:p>
        </p:txBody>
      </p:sp>
      <p:pic>
        <p:nvPicPr>
          <p:cNvPr descr="image.png" id="356" name="Google Shape;356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77050" y="179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77050" y="2571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77050" y="33528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77050" y="41338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77050" y="4914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81100" y="50387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47762" y="5781675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191"/>
            <a:ext cx="2547937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814191"/>
            <a:ext cx="2547937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14191"/>
            <a:ext cx="2547937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814191"/>
            <a:ext cx="2547937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0212" y="3061841"/>
            <a:ext cx="2052637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1809750" y="4385816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rPr>
              <a:t>Moving beyond defect detection to defect prevention. Our 2026 roadmap integrates advanced AI agents to predict failure points before code deployment.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819150" y="3576191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SELF-HEALING SCRIPTS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3652837" y="3576191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CLOUD-NATIVE TESTING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6486525" y="3576191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SECURITY-FIRST QA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9320212" y="3576191"/>
            <a:ext cx="20526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PREDICTIVE ANALYTICS</a:t>
            </a:r>
            <a:endParaRPr/>
          </a:p>
        </p:txBody>
      </p:sp>
      <p:pic>
        <p:nvPicPr>
          <p:cNvPr descr="image.png" id="378" name="Google Shape;37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4968" y="30618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1031" y="306184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22343" y="306184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 txBox="1"/>
          <p:nvPr/>
        </p:nvSpPr>
        <p:spPr>
          <a:xfrm>
            <a:off x="295275" y="728811"/>
            <a:ext cx="11601450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2026 Strategic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3"/>
          <p:cNvSpPr txBox="1"/>
          <p:nvPr/>
        </p:nvSpPr>
        <p:spPr>
          <a:xfrm>
            <a:off x="5790961" y="2586037"/>
            <a:ext cx="6100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 &amp; A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3986212" y="3232844"/>
            <a:ext cx="4219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rPr>
              <a:t>THANK YOU FOR YOUR ATTENTION</a:t>
            </a:r>
            <a:endParaRPr/>
          </a:p>
        </p:txBody>
      </p:sp>
      <p:sp>
        <p:nvSpPr>
          <p:cNvPr id="389" name="Google Shape;389;p23"/>
          <p:cNvSpPr txBox="1"/>
          <p:nvPr/>
        </p:nvSpPr>
        <p:spPr>
          <a:xfrm>
            <a:off x="5091112" y="4090094"/>
            <a:ext cx="2009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Roboto"/>
                <a:ea typeface="Roboto"/>
                <a:cs typeface="Roboto"/>
                <a:sym typeface="Roboto"/>
              </a:rPr>
              <a:t>2025 QA Leadership 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