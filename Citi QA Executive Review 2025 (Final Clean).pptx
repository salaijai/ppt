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5.png"/><Relationship Id="rId13" Type="http://schemas.openxmlformats.org/officeDocument/2006/relationships/image" Target="../media/image24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9.png"/><Relationship Id="rId15" Type="http://schemas.openxmlformats.org/officeDocument/2006/relationships/image" Target="../media/image22.png"/><Relationship Id="rId14" Type="http://schemas.openxmlformats.org/officeDocument/2006/relationships/image" Target="../media/image17.png"/><Relationship Id="rId17" Type="http://schemas.openxmlformats.org/officeDocument/2006/relationships/image" Target="../media/image33.png"/><Relationship Id="rId16" Type="http://schemas.openxmlformats.org/officeDocument/2006/relationships/image" Target="../media/image41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0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4.png"/><Relationship Id="rId11" Type="http://schemas.openxmlformats.org/officeDocument/2006/relationships/image" Target="../media/image25.png"/><Relationship Id="rId10" Type="http://schemas.openxmlformats.org/officeDocument/2006/relationships/image" Target="../media/image30.png"/><Relationship Id="rId21" Type="http://schemas.openxmlformats.org/officeDocument/2006/relationships/image" Target="../media/image35.png"/><Relationship Id="rId13" Type="http://schemas.openxmlformats.org/officeDocument/2006/relationships/image" Target="../media/image5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28.png"/><Relationship Id="rId15" Type="http://schemas.openxmlformats.org/officeDocument/2006/relationships/image" Target="../media/image48.png"/><Relationship Id="rId14" Type="http://schemas.openxmlformats.org/officeDocument/2006/relationships/image" Target="../media/image16.png"/><Relationship Id="rId17" Type="http://schemas.openxmlformats.org/officeDocument/2006/relationships/image" Target="../media/image39.png"/><Relationship Id="rId16" Type="http://schemas.openxmlformats.org/officeDocument/2006/relationships/image" Target="../media/image58.png"/><Relationship Id="rId5" Type="http://schemas.openxmlformats.org/officeDocument/2006/relationships/image" Target="../media/image4.png"/><Relationship Id="rId19" Type="http://schemas.openxmlformats.org/officeDocument/2006/relationships/image" Target="../media/image32.png"/><Relationship Id="rId6" Type="http://schemas.openxmlformats.org/officeDocument/2006/relationships/image" Target="../media/image18.png"/><Relationship Id="rId18" Type="http://schemas.openxmlformats.org/officeDocument/2006/relationships/image" Target="../media/image38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36.png"/><Relationship Id="rId11" Type="http://schemas.openxmlformats.org/officeDocument/2006/relationships/image" Target="../media/image46.png"/><Relationship Id="rId10" Type="http://schemas.openxmlformats.org/officeDocument/2006/relationships/image" Target="../media/image30.png"/><Relationship Id="rId21" Type="http://schemas.openxmlformats.org/officeDocument/2006/relationships/image" Target="../media/image34.png"/><Relationship Id="rId13" Type="http://schemas.openxmlformats.org/officeDocument/2006/relationships/image" Target="../media/image5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28.png"/><Relationship Id="rId15" Type="http://schemas.openxmlformats.org/officeDocument/2006/relationships/image" Target="../media/image48.png"/><Relationship Id="rId14" Type="http://schemas.openxmlformats.org/officeDocument/2006/relationships/image" Target="../media/image16.png"/><Relationship Id="rId17" Type="http://schemas.openxmlformats.org/officeDocument/2006/relationships/image" Target="../media/image39.png"/><Relationship Id="rId16" Type="http://schemas.openxmlformats.org/officeDocument/2006/relationships/image" Target="../media/image58.png"/><Relationship Id="rId5" Type="http://schemas.openxmlformats.org/officeDocument/2006/relationships/image" Target="../media/image4.png"/><Relationship Id="rId19" Type="http://schemas.openxmlformats.org/officeDocument/2006/relationships/image" Target="../media/image32.png"/><Relationship Id="rId6" Type="http://schemas.openxmlformats.org/officeDocument/2006/relationships/image" Target="../media/image18.png"/><Relationship Id="rId18" Type="http://schemas.openxmlformats.org/officeDocument/2006/relationships/image" Target="../media/image38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11" Type="http://schemas.openxmlformats.org/officeDocument/2006/relationships/image" Target="../media/image40.png"/><Relationship Id="rId10" Type="http://schemas.openxmlformats.org/officeDocument/2006/relationships/image" Target="../media/image30.png"/><Relationship Id="rId21" Type="http://schemas.openxmlformats.org/officeDocument/2006/relationships/image" Target="../media/image45.png"/><Relationship Id="rId13" Type="http://schemas.openxmlformats.org/officeDocument/2006/relationships/image" Target="../media/image5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28.png"/><Relationship Id="rId15" Type="http://schemas.openxmlformats.org/officeDocument/2006/relationships/image" Target="../media/image48.png"/><Relationship Id="rId14" Type="http://schemas.openxmlformats.org/officeDocument/2006/relationships/image" Target="../media/image16.png"/><Relationship Id="rId17" Type="http://schemas.openxmlformats.org/officeDocument/2006/relationships/image" Target="../media/image39.png"/><Relationship Id="rId16" Type="http://schemas.openxmlformats.org/officeDocument/2006/relationships/image" Target="../media/image58.png"/><Relationship Id="rId5" Type="http://schemas.openxmlformats.org/officeDocument/2006/relationships/image" Target="../media/image4.png"/><Relationship Id="rId19" Type="http://schemas.openxmlformats.org/officeDocument/2006/relationships/image" Target="../media/image32.png"/><Relationship Id="rId6" Type="http://schemas.openxmlformats.org/officeDocument/2006/relationships/image" Target="../media/image18.png"/><Relationship Id="rId18" Type="http://schemas.openxmlformats.org/officeDocument/2006/relationships/image" Target="../media/image38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57.png"/><Relationship Id="rId11" Type="http://schemas.openxmlformats.org/officeDocument/2006/relationships/image" Target="../media/image43.png"/><Relationship Id="rId10" Type="http://schemas.openxmlformats.org/officeDocument/2006/relationships/image" Target="../media/image30.png"/><Relationship Id="rId21" Type="http://schemas.openxmlformats.org/officeDocument/2006/relationships/image" Target="../media/image62.png"/><Relationship Id="rId13" Type="http://schemas.openxmlformats.org/officeDocument/2006/relationships/image" Target="../media/image5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28.png"/><Relationship Id="rId15" Type="http://schemas.openxmlformats.org/officeDocument/2006/relationships/image" Target="../media/image48.png"/><Relationship Id="rId14" Type="http://schemas.openxmlformats.org/officeDocument/2006/relationships/image" Target="../media/image16.png"/><Relationship Id="rId17" Type="http://schemas.openxmlformats.org/officeDocument/2006/relationships/image" Target="../media/image39.png"/><Relationship Id="rId16" Type="http://schemas.openxmlformats.org/officeDocument/2006/relationships/image" Target="../media/image58.png"/><Relationship Id="rId5" Type="http://schemas.openxmlformats.org/officeDocument/2006/relationships/image" Target="../media/image4.png"/><Relationship Id="rId19" Type="http://schemas.openxmlformats.org/officeDocument/2006/relationships/image" Target="../media/image32.png"/><Relationship Id="rId6" Type="http://schemas.openxmlformats.org/officeDocument/2006/relationships/image" Target="../media/image18.png"/><Relationship Id="rId18" Type="http://schemas.openxmlformats.org/officeDocument/2006/relationships/image" Target="../media/image38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60.png"/><Relationship Id="rId11" Type="http://schemas.openxmlformats.org/officeDocument/2006/relationships/image" Target="../media/image47.png"/><Relationship Id="rId10" Type="http://schemas.openxmlformats.org/officeDocument/2006/relationships/image" Target="../media/image30.png"/><Relationship Id="rId21" Type="http://schemas.openxmlformats.org/officeDocument/2006/relationships/image" Target="../media/image61.png"/><Relationship Id="rId13" Type="http://schemas.openxmlformats.org/officeDocument/2006/relationships/image" Target="../media/image5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28.png"/><Relationship Id="rId15" Type="http://schemas.openxmlformats.org/officeDocument/2006/relationships/image" Target="../media/image48.png"/><Relationship Id="rId14" Type="http://schemas.openxmlformats.org/officeDocument/2006/relationships/image" Target="../media/image16.png"/><Relationship Id="rId17" Type="http://schemas.openxmlformats.org/officeDocument/2006/relationships/image" Target="../media/image39.png"/><Relationship Id="rId16" Type="http://schemas.openxmlformats.org/officeDocument/2006/relationships/image" Target="../media/image58.png"/><Relationship Id="rId5" Type="http://schemas.openxmlformats.org/officeDocument/2006/relationships/image" Target="../media/image4.png"/><Relationship Id="rId19" Type="http://schemas.openxmlformats.org/officeDocument/2006/relationships/image" Target="../media/image32.png"/><Relationship Id="rId6" Type="http://schemas.openxmlformats.org/officeDocument/2006/relationships/image" Target="../media/image18.png"/><Relationship Id="rId18" Type="http://schemas.openxmlformats.org/officeDocument/2006/relationships/image" Target="../media/image38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9.png"/><Relationship Id="rId9" Type="http://schemas.openxmlformats.org/officeDocument/2006/relationships/image" Target="../media/image59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Relationship Id="rId7" Type="http://schemas.openxmlformats.org/officeDocument/2006/relationships/image" Target="../media/image53.png"/><Relationship Id="rId8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625" y="4195762"/>
            <a:ext cx="14287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830591" y="1833562"/>
            <a:ext cx="6530816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2025 QA Portfolio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Executive Review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47862" y="3500437"/>
            <a:ext cx="82962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46E7A"/>
                </a:solidFill>
                <a:latin typeface="Roboto"/>
                <a:ea typeface="Roboto"/>
                <a:cs typeface="Roboto"/>
                <a:sym typeface="Roboto"/>
              </a:rPr>
              <a:t>VERIFIX • GOAML • CITICONNECT • TRADELENS • GLOBAL KYC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033837" y="4576762"/>
            <a:ext cx="41243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Strategic Performance &amp; Compliance Impact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05200"/>
            <a:ext cx="110299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524000"/>
            <a:ext cx="2543175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9950" y="1524000"/>
            <a:ext cx="2543175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1524000"/>
            <a:ext cx="2543175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67800" y="1524000"/>
            <a:ext cx="2543175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81050" y="1819275"/>
            <a:ext cx="21431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81050" y="2543175"/>
            <a:ext cx="2143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546E7A"/>
                </a:solidFill>
                <a:latin typeface="Roboto"/>
                <a:ea typeface="Roboto"/>
                <a:cs typeface="Roboto"/>
                <a:sym typeface="Roboto"/>
              </a:rPr>
              <a:t>MAJOR PROJECTS DELIVERED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609975" y="1819275"/>
            <a:ext cx="21431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2,102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609975" y="2543175"/>
            <a:ext cx="214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546E7A"/>
                </a:solidFill>
                <a:latin typeface="Roboto"/>
                <a:ea typeface="Roboto"/>
                <a:cs typeface="Roboto"/>
                <a:sym typeface="Roboto"/>
              </a:rPr>
              <a:t>TOTAL TEST SCENARIOS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38900" y="1819275"/>
            <a:ext cx="21431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DA291C"/>
                </a:solidFill>
                <a:latin typeface="Roboto"/>
                <a:ea typeface="Roboto"/>
                <a:cs typeface="Roboto"/>
                <a:sym typeface="Roboto"/>
              </a:rPr>
              <a:t>177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38900" y="2543175"/>
            <a:ext cx="214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546E7A"/>
                </a:solidFill>
                <a:latin typeface="Roboto"/>
                <a:ea typeface="Roboto"/>
                <a:cs typeface="Roboto"/>
                <a:sym typeface="Roboto"/>
              </a:rPr>
              <a:t>DEFECTS PRE-EMPTED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267825" y="1819275"/>
            <a:ext cx="21431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008F39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267825" y="2543175"/>
            <a:ext cx="214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546E7A"/>
                </a:solidFill>
                <a:latin typeface="Roboto"/>
                <a:ea typeface="Roboto"/>
                <a:cs typeface="Roboto"/>
                <a:sym typeface="Roboto"/>
              </a:rPr>
              <a:t>PRODUCTION ISSUES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57275" y="4067175"/>
            <a:ext cx="82010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Executive Impact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57275" y="4591050"/>
            <a:ext cx="7810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Successfully navigated 2025's regulatory shifts with zero defect leakage. Unified 5 disparate testing streams into a cohesive, AI-augmented quality assurance framework.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150191" y="4210050"/>
            <a:ext cx="2070258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248775" y="5105400"/>
            <a:ext cx="1971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Regulatory Compliance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05276" y="3905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2025 Strategic Outcomes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90625"/>
            <a:ext cx="11029950" cy="52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81025" y="5572125"/>
            <a:ext cx="11029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* Data reflects total validated scenarios across Functional and Regression cycles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05276" y="48577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Execution Volume by Initiative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0525"/>
            <a:ext cx="6332190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9465" y="390525"/>
            <a:ext cx="4221509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4740" y="132263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740" y="211321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4740" y="290378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84740" y="3884860"/>
            <a:ext cx="3630959" cy="1459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6300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42444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76300" y="781050"/>
            <a:ext cx="602872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AI &amp; Automation Strategy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66800" y="3214687"/>
            <a:ext cx="55511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Leveraging GenAI to shift left and accelerate delivery cycles.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876300" y="3214687"/>
            <a:ext cx="57150" cy="28575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7999065" y="1555998"/>
            <a:ext cx="1228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TIME SAVINGS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601325" y="1503610"/>
            <a:ext cx="466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40%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999065" y="2346573"/>
            <a:ext cx="1304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AI TEST CASES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639425" y="2294185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999065" y="3137148"/>
            <a:ext cx="962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AI SCRIPTS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782300" y="308476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932390" y="4287440"/>
            <a:ext cx="334244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CHALLENGES &amp; LEARNINGS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932390" y="4544615"/>
            <a:ext cx="3183284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Fine-tuning prompts for complex logic and overcoming Excel parsing limits remain key focus areas for 2026.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8700" y="5619750"/>
            <a:ext cx="3848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556444" y="5638800"/>
            <a:ext cx="1943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Friday.AI Prompt Engineering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94844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4537769" y="5729287"/>
            <a:ext cx="1562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Copilot Test Script Gen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999065" y="156552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99065" y="235609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99065" y="3146673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11597" y="57245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109144" y="5724525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0525"/>
            <a:ext cx="6332190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9465" y="390525"/>
            <a:ext cx="4221509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4740" y="15240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740" y="231457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4740" y="310515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84740" y="389572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84740" y="46863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6300" y="685800"/>
            <a:ext cx="23145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6300" y="1905000"/>
            <a:ext cx="5741640" cy="1259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6300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42444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76300" y="1200150"/>
            <a:ext cx="602872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VerifiX Application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66800" y="3355330"/>
            <a:ext cx="55511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Remediation of non-compliant reporting matters to ensure zero risk exposure.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876300" y="3355330"/>
            <a:ext cx="57150" cy="5715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7999065" y="1757362"/>
            <a:ext cx="16573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639425" y="1704975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400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999065" y="2547937"/>
            <a:ext cx="1619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639425" y="24955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170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999065" y="3338512"/>
            <a:ext cx="132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0639425" y="3286125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999065" y="4129087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0782300" y="40767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60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999065" y="4919662"/>
            <a:ext cx="828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782300" y="48672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123950" y="2307580"/>
            <a:ext cx="555866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123950" y="2564755"/>
            <a:ext cx="52939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Eliminated manual reporting errors, ensuring 100% adherence to FinSurv mandates.</a:t>
            </a:r>
            <a:endParaRPr/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700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1571625" y="5729287"/>
            <a:ext cx="1590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Automated Payment ID</a:t>
            </a:r>
            <a:endParaRPr/>
          </a:p>
        </p:txBody>
      </p:sp>
      <p:pic>
        <p:nvPicPr>
          <p:cNvPr descr="image.png" id="186" name="Google Shape;186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94844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4537769" y="5729287"/>
            <a:ext cx="1171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Zero Prod Issues</a:t>
            </a:r>
            <a:endParaRPr/>
          </a:p>
        </p:txBody>
      </p:sp>
      <p:pic>
        <p:nvPicPr>
          <p:cNvPr descr="image.png" id="188" name="Google Shape;188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99065" y="176688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999065" y="25574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999065" y="334803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99065" y="41386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999065" y="49291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09662" y="57245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109144" y="5724525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0525"/>
            <a:ext cx="6332190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9465" y="390525"/>
            <a:ext cx="4221509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4740" y="15240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740" y="231457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4740" y="310515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84740" y="389572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84740" y="46863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6300" y="685800"/>
            <a:ext cx="22574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6300" y="1905000"/>
            <a:ext cx="5741640" cy="1259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6300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42444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876300" y="1200150"/>
            <a:ext cx="602872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GOAML Integration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1066800" y="3355330"/>
            <a:ext cx="55511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Boosting Straight-Through Processing (STP) rates for critical transaction reports.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876300" y="3355330"/>
            <a:ext cx="57150" cy="5715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7999065" y="1757362"/>
            <a:ext cx="16573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0639425" y="1704975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332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999065" y="2547937"/>
            <a:ext cx="1619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0639425" y="24955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140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999065" y="3338512"/>
            <a:ext cx="132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0782300" y="328612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80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7999065" y="4129087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10782300" y="40767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42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7999065" y="4919662"/>
            <a:ext cx="828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10782300" y="48672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35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1123950" y="2307580"/>
            <a:ext cx="555866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1123950" y="2564755"/>
            <a:ext cx="52939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Optimized transaction reporting speed, reducing regulatory submission lag.</a:t>
            </a:r>
            <a:endParaRPr/>
          </a:p>
        </p:txBody>
      </p:sp>
      <p:pic>
        <p:nvPicPr>
          <p:cNvPr descr="image.png" id="226" name="Google Shape;226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700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1571625" y="5729287"/>
            <a:ext cx="1714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Increased STP Efficiency</a:t>
            </a:r>
            <a:endParaRPr/>
          </a:p>
        </p:txBody>
      </p:sp>
      <p:pic>
        <p:nvPicPr>
          <p:cNvPr descr="image.png" id="228" name="Google Shape;228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94844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4537769" y="5729287"/>
            <a:ext cx="17335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Complex Logic Validation</a:t>
            </a:r>
            <a:endParaRPr/>
          </a:p>
        </p:txBody>
      </p:sp>
      <p:pic>
        <p:nvPicPr>
          <p:cNvPr descr="image.png" id="230" name="Google Shape;230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99065" y="176688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999065" y="25574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999065" y="334803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99065" y="41386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999065" y="49291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19187" y="57245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099619" y="572452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0525"/>
            <a:ext cx="6332190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9465" y="390525"/>
            <a:ext cx="4221509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4740" y="15240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740" y="231457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4740" y="310515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84740" y="389572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84740" y="46863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6300" y="685800"/>
            <a:ext cx="17621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6300" y="1905000"/>
            <a:ext cx="5741640" cy="1259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6300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42444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876300" y="1200150"/>
            <a:ext cx="602872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CitiConnect API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1066800" y="3355330"/>
            <a:ext cx="55511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Overhauling legacy API gateways to reduce latency and ensure real-time payload checks.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876300" y="3355330"/>
            <a:ext cx="57150" cy="5715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7999065" y="1757362"/>
            <a:ext cx="16573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10639425" y="1704975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450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7999065" y="2547937"/>
            <a:ext cx="1619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10639425" y="24955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200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7999065" y="3338512"/>
            <a:ext cx="132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10639425" y="3286125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180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7999065" y="4129087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10639425" y="407670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144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7999065" y="4919662"/>
            <a:ext cx="828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10782300" y="48672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1123950" y="2307580"/>
            <a:ext cx="555866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1123950" y="2564755"/>
            <a:ext cx="52939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Enhanced institutional client experience with sub-second API validation.</a:t>
            </a:r>
            <a:endParaRPr/>
          </a:p>
        </p:txBody>
      </p:sp>
      <p:pic>
        <p:nvPicPr>
          <p:cNvPr descr="image.png" id="268" name="Google Shape;268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700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/>
        </p:nvSpPr>
        <p:spPr>
          <a:xfrm>
            <a:off x="1571625" y="5729287"/>
            <a:ext cx="1590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40% Latency Reduction</a:t>
            </a:r>
            <a:endParaRPr/>
          </a:p>
        </p:txBody>
      </p:sp>
      <p:pic>
        <p:nvPicPr>
          <p:cNvPr descr="image.png" id="270" name="Google Shape;270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94844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 txBox="1"/>
          <p:nvPr/>
        </p:nvSpPr>
        <p:spPr>
          <a:xfrm>
            <a:off x="4537769" y="5729287"/>
            <a:ext cx="1200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Copilot Unit Tests</a:t>
            </a:r>
            <a:endParaRPr/>
          </a:p>
        </p:txBody>
      </p:sp>
      <p:pic>
        <p:nvPicPr>
          <p:cNvPr descr="image.png" id="272" name="Google Shape;272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99065" y="176688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999065" y="25574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999065" y="334803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99065" y="41386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999065" y="49291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43000" y="57245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075807" y="5724525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0525"/>
            <a:ext cx="6332190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9465" y="390525"/>
            <a:ext cx="4221509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4740" y="15240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740" y="231457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4740" y="310515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84740" y="389572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84740" y="46863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6300" y="685800"/>
            <a:ext cx="18859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6300" y="1905000"/>
            <a:ext cx="5741640" cy="1059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6300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42444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0"/>
          <p:cNvSpPr txBox="1"/>
          <p:nvPr/>
        </p:nvSpPr>
        <p:spPr>
          <a:xfrm>
            <a:off x="876300" y="1200150"/>
            <a:ext cx="602872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TradeLens Ledger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1066800" y="3155305"/>
            <a:ext cx="55511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Validating distributed ledger technology for smart contract integrity.</a:t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876300" y="3155305"/>
            <a:ext cx="57150" cy="5715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999065" y="1757362"/>
            <a:ext cx="16573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10639425" y="1704975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320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7999065" y="2547937"/>
            <a:ext cx="1619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10639425" y="24955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7999065" y="3338512"/>
            <a:ext cx="132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10782300" y="328612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7999065" y="4129087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10782300" y="40767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7999065" y="4919662"/>
            <a:ext cx="828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10782300" y="48672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1123950" y="2307580"/>
            <a:ext cx="555866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1123950" y="2564755"/>
            <a:ext cx="52939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Secured immutable audit trails for high-value trade settlements.</a:t>
            </a:r>
            <a:endParaRPr/>
          </a:p>
        </p:txBody>
      </p:sp>
      <p:pic>
        <p:nvPicPr>
          <p:cNvPr descr="image.png" id="310" name="Google Shape;310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700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 txBox="1"/>
          <p:nvPr/>
        </p:nvSpPr>
        <p:spPr>
          <a:xfrm>
            <a:off x="1571625" y="5729287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Smart Contract Logic</a:t>
            </a:r>
            <a:endParaRPr/>
          </a:p>
        </p:txBody>
      </p:sp>
      <p:pic>
        <p:nvPicPr>
          <p:cNvPr descr="image.png" id="312" name="Google Shape;312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94844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0"/>
          <p:cNvSpPr txBox="1"/>
          <p:nvPr/>
        </p:nvSpPr>
        <p:spPr>
          <a:xfrm>
            <a:off x="4537769" y="5729287"/>
            <a:ext cx="12763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Secure Settlement</a:t>
            </a:r>
            <a:endParaRPr/>
          </a:p>
        </p:txBody>
      </p:sp>
      <p:pic>
        <p:nvPicPr>
          <p:cNvPr descr="image.png" id="314" name="Google Shape;314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99065" y="176688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999065" y="25574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999065" y="334803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99065" y="41386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999065" y="49291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09662" y="57245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099619" y="572452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0525"/>
            <a:ext cx="6332190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9465" y="390525"/>
            <a:ext cx="4221509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4740" y="15240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740" y="231457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4740" y="310515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84740" y="3895725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84740" y="4686300"/>
            <a:ext cx="3630959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6300" y="685800"/>
            <a:ext cx="17716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6300" y="1905000"/>
            <a:ext cx="5741640" cy="1259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6300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42444" y="5467350"/>
            <a:ext cx="2775644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 txBox="1"/>
          <p:nvPr/>
        </p:nvSpPr>
        <p:spPr>
          <a:xfrm>
            <a:off x="876300" y="1200150"/>
            <a:ext cx="602872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Global KYC Unification</a:t>
            </a:r>
            <a:endParaRPr/>
          </a:p>
        </p:txBody>
      </p:sp>
      <p:sp>
        <p:nvSpPr>
          <p:cNvPr id="338" name="Google Shape;338;p21"/>
          <p:cNvSpPr txBox="1"/>
          <p:nvPr/>
        </p:nvSpPr>
        <p:spPr>
          <a:xfrm>
            <a:off x="1066800" y="3355330"/>
            <a:ext cx="55511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Merging APAC and EMEA customer datasets with AI-driven duplicate detection.</a:t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876300" y="3355330"/>
            <a:ext cx="57150" cy="5715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7999065" y="1757362"/>
            <a:ext cx="16573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10639425" y="1704975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600</a:t>
            </a:r>
            <a:endParaRPr/>
          </a:p>
        </p:txBody>
      </p:sp>
      <p:sp>
        <p:nvSpPr>
          <p:cNvPr id="342" name="Google Shape;342;p21"/>
          <p:cNvSpPr txBox="1"/>
          <p:nvPr/>
        </p:nvSpPr>
        <p:spPr>
          <a:xfrm>
            <a:off x="7999065" y="2547937"/>
            <a:ext cx="1619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343" name="Google Shape;343;p21"/>
          <p:cNvSpPr txBox="1"/>
          <p:nvPr/>
        </p:nvSpPr>
        <p:spPr>
          <a:xfrm>
            <a:off x="10639425" y="249555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300</a:t>
            </a:r>
            <a:endParaRPr/>
          </a:p>
        </p:txBody>
      </p:sp>
      <p:sp>
        <p:nvSpPr>
          <p:cNvPr id="344" name="Google Shape;344;p21"/>
          <p:cNvSpPr txBox="1"/>
          <p:nvPr/>
        </p:nvSpPr>
        <p:spPr>
          <a:xfrm>
            <a:off x="7999065" y="3338512"/>
            <a:ext cx="132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10639425" y="3286125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250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7999065" y="4129087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10639425" y="4076700"/>
            <a:ext cx="428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188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7999065" y="4919662"/>
            <a:ext cx="828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10782300" y="48672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55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1123950" y="2307580"/>
            <a:ext cx="555866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1123950" y="2564755"/>
            <a:ext cx="52939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Unified global identity standards, reducing client onboarding time by 30%.</a:t>
            </a:r>
            <a:endParaRPr/>
          </a:p>
        </p:txBody>
      </p:sp>
      <p:pic>
        <p:nvPicPr>
          <p:cNvPr descr="image.png" id="352" name="Google Shape;352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700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1"/>
          <p:cNvSpPr txBox="1"/>
          <p:nvPr/>
        </p:nvSpPr>
        <p:spPr>
          <a:xfrm>
            <a:off x="1571625" y="5729287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Dataset Merge</a:t>
            </a:r>
            <a:endParaRPr/>
          </a:p>
        </p:txBody>
      </p:sp>
      <p:pic>
        <p:nvPicPr>
          <p:cNvPr descr="image.png" id="354" name="Google Shape;354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94844" y="56197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1"/>
          <p:cNvSpPr txBox="1"/>
          <p:nvPr/>
        </p:nvSpPr>
        <p:spPr>
          <a:xfrm>
            <a:off x="4537769" y="5729287"/>
            <a:ext cx="1123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AI Deduplication</a:t>
            </a:r>
            <a:endParaRPr/>
          </a:p>
        </p:txBody>
      </p:sp>
      <p:pic>
        <p:nvPicPr>
          <p:cNvPr descr="image.png" id="356" name="Google Shape;356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99065" y="176688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999065" y="25574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999065" y="334803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99065" y="41386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999065" y="49291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43000" y="57245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075807" y="5724525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7" name="Google Shape;3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3301"/>
            <a:ext cx="25431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603301"/>
            <a:ext cx="25431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603301"/>
            <a:ext cx="25431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2603301"/>
            <a:ext cx="25431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7825" y="2946201"/>
            <a:ext cx="214312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1809750" y="4289226"/>
            <a:ext cx="857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Moving beyond defect detection to defect prevention. Our 2026 roadmap integrates advanced AI agents to predict failure points before code deployment.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781050" y="3517701"/>
            <a:ext cx="214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SELF-HEALING SCRIPTS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3609975" y="3517701"/>
            <a:ext cx="214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CLOUD-NATIVE TESTING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6438900" y="3517701"/>
            <a:ext cx="214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SECURITY-FIRST QA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9267825" y="3517701"/>
            <a:ext cx="214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PREDICTIVE ANALYTICS</a:t>
            </a:r>
            <a:endParaRPr/>
          </a:p>
        </p:txBody>
      </p:sp>
      <p:pic>
        <p:nvPicPr>
          <p:cNvPr descr="image.png" id="378" name="Google Shape;37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4012" y="294620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95787" y="2946201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81862" y="294620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2"/>
          <p:cNvSpPr txBox="1"/>
          <p:nvPr/>
        </p:nvSpPr>
        <p:spPr>
          <a:xfrm>
            <a:off x="305276" y="3905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8D"/>
                </a:solidFill>
                <a:latin typeface="Roboto"/>
                <a:ea typeface="Roboto"/>
                <a:cs typeface="Roboto"/>
                <a:sym typeface="Roboto"/>
              </a:rPr>
              <a:t>2026 Strategic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3"/>
          <p:cNvSpPr txBox="1"/>
          <p:nvPr/>
        </p:nvSpPr>
        <p:spPr>
          <a:xfrm>
            <a:off x="5790961" y="2509837"/>
            <a:ext cx="6100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Q &amp; A</a:t>
            </a:r>
            <a:endParaRPr/>
          </a:p>
        </p:txBody>
      </p:sp>
      <p:sp>
        <p:nvSpPr>
          <p:cNvPr id="388" name="Google Shape;388;p23"/>
          <p:cNvSpPr txBox="1"/>
          <p:nvPr/>
        </p:nvSpPr>
        <p:spPr>
          <a:xfrm>
            <a:off x="3748087" y="3156644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46E7A"/>
                </a:solidFill>
                <a:latin typeface="Roboto"/>
                <a:ea typeface="Roboto"/>
                <a:cs typeface="Roboto"/>
                <a:sym typeface="Roboto"/>
              </a:rPr>
              <a:t>THANK YOU FOR YOUR ATTENTION</a:t>
            </a:r>
            <a:endParaRPr/>
          </a:p>
        </p:txBody>
      </p:sp>
      <p:sp>
        <p:nvSpPr>
          <p:cNvPr id="389" name="Google Shape;389;p23"/>
          <p:cNvSpPr txBox="1"/>
          <p:nvPr/>
        </p:nvSpPr>
        <p:spPr>
          <a:xfrm>
            <a:off x="4738687" y="4042469"/>
            <a:ext cx="2714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2025 QA Leadership Team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